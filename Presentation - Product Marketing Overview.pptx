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ooper BT Bold" charset="1" panose="0208080404030B020404"/>
      <p:regular r:id="rId15"/>
    </p:embeddedFont>
    <p:embeddedFont>
      <p:font typeface="TT Interphases" charset="1" panose="02000503020000020004"/>
      <p:regular r:id="rId16"/>
    </p:embeddedFont>
    <p:embeddedFont>
      <p:font typeface="TT Interphases Bold" charset="1" panose="02000803060000020004"/>
      <p:regular r:id="rId17"/>
    </p:embeddedFont>
    <p:embeddedFont>
      <p:font typeface="TT Interphases Bold Italics" charset="1" panose="02000803000000090004"/>
      <p:regular r:id="rId18"/>
    </p:embeddedFont>
    <p:embeddedFont>
      <p:font typeface="TT Interphases Italics" charset="1" panose="0200050302000009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2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2" Target="../media/image28.png" Type="http://schemas.openxmlformats.org/officeDocument/2006/relationships/image"/><Relationship Id="rId3" Target="../media/image2.pn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png" Type="http://schemas.openxmlformats.org/officeDocument/2006/relationships/image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http://aboutamazon.com" TargetMode="External" Type="http://schemas.openxmlformats.org/officeDocument/2006/relationships/hyperlink"/><Relationship Id="rId6" Target="http://amazon.com/amazonprime" TargetMode="External" Type="http://schemas.openxmlformats.org/officeDocument/2006/relationships/hyperlink"/><Relationship Id="rId7" Target="http://netflix.com" TargetMode="External" Type="http://schemas.openxmlformats.org/officeDocument/2006/relationships/hyperlink"/><Relationship Id="rId8" Target="http://about.netflix.com" TargetMode="External" Type="http://schemas.openxmlformats.org/officeDocument/2006/relationships/hyperlink"/><Relationship Id="rId9" Target="http://aboutamazon.com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D3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02C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6886575" cy="9064113"/>
            <a:chOff x="0" y="0"/>
            <a:chExt cx="812800" cy="10698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69808"/>
            </a:xfrm>
            <a:custGeom>
              <a:avLst/>
              <a:gdLst/>
              <a:ahLst/>
              <a:cxnLst/>
              <a:rect r="r" b="b" t="t" l="l"/>
              <a:pathLst>
                <a:path h="1069808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24840"/>
                  </a:lnTo>
                  <a:cubicBezTo>
                    <a:pt x="812800" y="1036766"/>
                    <a:pt x="808062" y="1048204"/>
                    <a:pt x="799629" y="1056637"/>
                  </a:cubicBezTo>
                  <a:cubicBezTo>
                    <a:pt x="791196" y="1065070"/>
                    <a:pt x="779758" y="1069808"/>
                    <a:pt x="767832" y="1069808"/>
                  </a:cubicBezTo>
                  <a:lnTo>
                    <a:pt x="44968" y="1069808"/>
                  </a:lnTo>
                  <a:cubicBezTo>
                    <a:pt x="33042" y="1069808"/>
                    <a:pt x="21604" y="1065070"/>
                    <a:pt x="13171" y="1056637"/>
                  </a:cubicBezTo>
                  <a:cubicBezTo>
                    <a:pt x="4738" y="1048204"/>
                    <a:pt x="0" y="1036766"/>
                    <a:pt x="0" y="1024840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6593" r="0" b="-6593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222897" y="-201962"/>
            <a:ext cx="2319283" cy="940638"/>
          </a:xfrm>
          <a:custGeom>
            <a:avLst/>
            <a:gdLst/>
            <a:ahLst/>
            <a:cxnLst/>
            <a:rect r="r" b="b" t="t" l="l"/>
            <a:pathLst>
              <a:path h="940638" w="2319283">
                <a:moveTo>
                  <a:pt x="0" y="0"/>
                </a:moveTo>
                <a:lnTo>
                  <a:pt x="2319283" y="0"/>
                </a:lnTo>
                <a:lnTo>
                  <a:pt x="2319283" y="940638"/>
                </a:lnTo>
                <a:lnTo>
                  <a:pt x="0" y="9406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144000" y="821609"/>
            <a:ext cx="8324850" cy="4619670"/>
            <a:chOff x="0" y="0"/>
            <a:chExt cx="11099800" cy="6159561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5346125"/>
              <a:ext cx="11099800" cy="8134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69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47650"/>
              <a:ext cx="11099800" cy="46274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2999"/>
                </a:lnSpc>
              </a:pPr>
              <a:r>
                <a:rPr lang="en-US" b="true" sz="12999" spc="-259">
                  <a:solidFill>
                    <a:srgbClr val="221100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Amazon Prime+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671679" y="5076825"/>
            <a:ext cx="9574292" cy="128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2211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Principles of Marketing • SB3081 • RV University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69793" y="7313929"/>
            <a:ext cx="7489507" cy="1944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2211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Student: Esheshwari Kumari </a:t>
            </a:r>
          </a:p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2211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USN: 1RUA24BCA0025</a:t>
            </a:r>
          </a:p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2211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Faculty: Prof. Shikha Karamchandani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D3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7298" y="2206206"/>
            <a:ext cx="17113404" cy="7996627"/>
          </a:xfrm>
          <a:custGeom>
            <a:avLst/>
            <a:gdLst/>
            <a:ahLst/>
            <a:cxnLst/>
            <a:rect r="r" b="b" t="t" l="l"/>
            <a:pathLst>
              <a:path h="7996627" w="17113404">
                <a:moveTo>
                  <a:pt x="0" y="0"/>
                </a:moveTo>
                <a:lnTo>
                  <a:pt x="17113404" y="0"/>
                </a:lnTo>
                <a:lnTo>
                  <a:pt x="17113404" y="7996627"/>
                </a:lnTo>
                <a:lnTo>
                  <a:pt x="0" y="7996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93651" y="2206206"/>
            <a:ext cx="2266778" cy="2266778"/>
          </a:xfrm>
          <a:custGeom>
            <a:avLst/>
            <a:gdLst/>
            <a:ahLst/>
            <a:cxnLst/>
            <a:rect r="r" b="b" t="t" l="l"/>
            <a:pathLst>
              <a:path h="2266778" w="2266778">
                <a:moveTo>
                  <a:pt x="0" y="0"/>
                </a:moveTo>
                <a:lnTo>
                  <a:pt x="2266778" y="0"/>
                </a:lnTo>
                <a:lnTo>
                  <a:pt x="2266778" y="2266778"/>
                </a:lnTo>
                <a:lnTo>
                  <a:pt x="0" y="2266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86987" y="5260111"/>
            <a:ext cx="1973442" cy="1888818"/>
          </a:xfrm>
          <a:custGeom>
            <a:avLst/>
            <a:gdLst/>
            <a:ahLst/>
            <a:cxnLst/>
            <a:rect r="r" b="b" t="t" l="l"/>
            <a:pathLst>
              <a:path h="1888818" w="1973442">
                <a:moveTo>
                  <a:pt x="0" y="0"/>
                </a:moveTo>
                <a:lnTo>
                  <a:pt x="1973442" y="0"/>
                </a:lnTo>
                <a:lnTo>
                  <a:pt x="1973442" y="1888817"/>
                </a:lnTo>
                <a:lnTo>
                  <a:pt x="0" y="18888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240" r="0" b="-224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60407" y="7939503"/>
            <a:ext cx="1933265" cy="1898743"/>
          </a:xfrm>
          <a:custGeom>
            <a:avLst/>
            <a:gdLst/>
            <a:ahLst/>
            <a:cxnLst/>
            <a:rect r="r" b="b" t="t" l="l"/>
            <a:pathLst>
              <a:path h="1898743" w="1933265">
                <a:moveTo>
                  <a:pt x="0" y="0"/>
                </a:moveTo>
                <a:lnTo>
                  <a:pt x="1933266" y="0"/>
                </a:lnTo>
                <a:lnTo>
                  <a:pt x="1933266" y="1898743"/>
                </a:lnTo>
                <a:lnTo>
                  <a:pt x="0" y="18987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3325688"/>
            <a:ext cx="6284309" cy="1817812"/>
          </a:xfrm>
          <a:custGeom>
            <a:avLst/>
            <a:gdLst/>
            <a:ahLst/>
            <a:cxnLst/>
            <a:rect r="r" b="b" t="t" l="l"/>
            <a:pathLst>
              <a:path h="1817812" w="6284309">
                <a:moveTo>
                  <a:pt x="0" y="0"/>
                </a:moveTo>
                <a:lnTo>
                  <a:pt x="6284309" y="0"/>
                </a:lnTo>
                <a:lnTo>
                  <a:pt x="6284309" y="1817812"/>
                </a:lnTo>
                <a:lnTo>
                  <a:pt x="0" y="18178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0104" r="0" b="-20104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3461" y="510538"/>
            <a:ext cx="18288000" cy="1207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  <a:spcBef>
                <a:spcPct val="0"/>
              </a:spcBef>
            </a:pPr>
            <a:r>
              <a:rPr lang="en-US" b="true" sz="9000" spc="-180">
                <a:solidFill>
                  <a:srgbClr val="2211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Introduction to Amazon Prime+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2871" y="5193436"/>
            <a:ext cx="6444343" cy="3919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Amaz</a:t>
            </a:r>
            <a:r>
              <a:rPr lang="en-US" sz="31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on Prime+ is an upgraded subscription ecosystem that combines fast delivery, streaming entertainment, exclusive shopping benefits, and smart recommendations into a single platform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43870" y="2848761"/>
            <a:ext cx="6349781" cy="1180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Need: </a:t>
            </a:r>
            <a:r>
              <a:rPr lang="en-US" sz="33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</a:t>
            </a:r>
            <a:r>
              <a:rPr lang="en-US" sz="33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onvenience and time-saving in digital services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42778" y="5580949"/>
            <a:ext cx="6952225" cy="1180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Want:</a:t>
            </a:r>
            <a:r>
              <a:rPr lang="en-US" sz="33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One</a:t>
            </a:r>
            <a:r>
              <a:rPr lang="en-US" sz="33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platform for shopping and entertainment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43870" y="7965267"/>
            <a:ext cx="6349781" cy="178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Demand: </a:t>
            </a:r>
            <a:r>
              <a:rPr lang="en-US" sz="33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</a:t>
            </a:r>
            <a:r>
              <a:rPr lang="en-US" sz="33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onsumers subscribing to integrated digital services like Prime.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D3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75464" y="-152144"/>
            <a:ext cx="2398430" cy="972738"/>
          </a:xfrm>
          <a:custGeom>
            <a:avLst/>
            <a:gdLst/>
            <a:ahLst/>
            <a:cxnLst/>
            <a:rect r="r" b="b" t="t" l="l"/>
            <a:pathLst>
              <a:path h="972738" w="2398430">
                <a:moveTo>
                  <a:pt x="0" y="0"/>
                </a:moveTo>
                <a:lnTo>
                  <a:pt x="2398430" y="0"/>
                </a:lnTo>
                <a:lnTo>
                  <a:pt x="2398430" y="972738"/>
                </a:lnTo>
                <a:lnTo>
                  <a:pt x="0" y="972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750725" y="5205413"/>
            <a:ext cx="12266768" cy="0"/>
          </a:xfrm>
          <a:prstGeom prst="line">
            <a:avLst/>
          </a:prstGeom>
          <a:ln cap="rnd" w="123825">
            <a:solidFill>
              <a:srgbClr val="602C2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8944896" y="2152969"/>
            <a:ext cx="0" cy="7105331"/>
          </a:xfrm>
          <a:prstGeom prst="line">
            <a:avLst/>
          </a:prstGeom>
          <a:ln cap="rnd" w="123825">
            <a:solidFill>
              <a:srgbClr val="602C2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850763" y="6419954"/>
            <a:ext cx="1402238" cy="1914318"/>
          </a:xfrm>
          <a:custGeom>
            <a:avLst/>
            <a:gdLst/>
            <a:ahLst/>
            <a:cxnLst/>
            <a:rect r="r" b="b" t="t" l="l"/>
            <a:pathLst>
              <a:path h="1914318" w="1402238">
                <a:moveTo>
                  <a:pt x="0" y="0"/>
                </a:moveTo>
                <a:lnTo>
                  <a:pt x="1402238" y="0"/>
                </a:lnTo>
                <a:lnTo>
                  <a:pt x="1402238" y="1914317"/>
                </a:lnTo>
                <a:lnTo>
                  <a:pt x="0" y="19143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47882" y="6391171"/>
            <a:ext cx="1909496" cy="1914318"/>
          </a:xfrm>
          <a:custGeom>
            <a:avLst/>
            <a:gdLst/>
            <a:ahLst/>
            <a:cxnLst/>
            <a:rect r="r" b="b" t="t" l="l"/>
            <a:pathLst>
              <a:path h="1914318" w="1909496">
                <a:moveTo>
                  <a:pt x="0" y="0"/>
                </a:moveTo>
                <a:lnTo>
                  <a:pt x="1909496" y="0"/>
                </a:lnTo>
                <a:lnTo>
                  <a:pt x="1909496" y="1914318"/>
                </a:lnTo>
                <a:lnTo>
                  <a:pt x="0" y="19143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641677" y="2838760"/>
            <a:ext cx="1403357" cy="1403357"/>
          </a:xfrm>
          <a:custGeom>
            <a:avLst/>
            <a:gdLst/>
            <a:ahLst/>
            <a:cxnLst/>
            <a:rect r="r" b="b" t="t" l="l"/>
            <a:pathLst>
              <a:path h="1403357" w="1403357">
                <a:moveTo>
                  <a:pt x="0" y="0"/>
                </a:moveTo>
                <a:lnTo>
                  <a:pt x="1403357" y="0"/>
                </a:lnTo>
                <a:lnTo>
                  <a:pt x="1403357" y="1403357"/>
                </a:lnTo>
                <a:lnTo>
                  <a:pt x="0" y="14033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673320" y="2669206"/>
            <a:ext cx="1528193" cy="1572911"/>
          </a:xfrm>
          <a:custGeom>
            <a:avLst/>
            <a:gdLst/>
            <a:ahLst/>
            <a:cxnLst/>
            <a:rect r="r" b="b" t="t" l="l"/>
            <a:pathLst>
              <a:path h="1572911" w="1528193">
                <a:moveTo>
                  <a:pt x="0" y="0"/>
                </a:moveTo>
                <a:lnTo>
                  <a:pt x="1528193" y="0"/>
                </a:lnTo>
                <a:lnTo>
                  <a:pt x="1528193" y="1572911"/>
                </a:lnTo>
                <a:lnTo>
                  <a:pt x="0" y="15729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0193" t="-26492" r="-27568" b="-2678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064105" y="2838760"/>
            <a:ext cx="6062555" cy="1495725"/>
          </a:xfrm>
          <a:custGeom>
            <a:avLst/>
            <a:gdLst/>
            <a:ahLst/>
            <a:cxnLst/>
            <a:rect r="r" b="b" t="t" l="l"/>
            <a:pathLst>
              <a:path h="1495725" w="6062555">
                <a:moveTo>
                  <a:pt x="0" y="0"/>
                </a:moveTo>
                <a:lnTo>
                  <a:pt x="6062555" y="0"/>
                </a:lnTo>
                <a:lnTo>
                  <a:pt x="6062555" y="1495725"/>
                </a:lnTo>
                <a:lnTo>
                  <a:pt x="0" y="14957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88278"/>
            <a:ext cx="16952821" cy="1128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99"/>
              </a:lnSpc>
              <a:spcBef>
                <a:spcPct val="0"/>
              </a:spcBef>
            </a:pPr>
            <a:r>
              <a:rPr lang="en-US" b="true" sz="8499" spc="-169">
                <a:solidFill>
                  <a:srgbClr val="0000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Ma</a:t>
            </a:r>
            <a:r>
              <a:rPr lang="en-US" b="true" sz="8499" spc="-169" strike="noStrike" u="none">
                <a:solidFill>
                  <a:srgbClr val="0000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r</a:t>
            </a:r>
            <a:r>
              <a:rPr lang="en-US" b="true" sz="8499" spc="-169" strike="noStrike" u="none">
                <a:solidFill>
                  <a:srgbClr val="0000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k</a:t>
            </a:r>
            <a:r>
              <a:rPr lang="en-US" b="true" sz="8499" spc="-169" strike="noStrike" u="none">
                <a:solidFill>
                  <a:srgbClr val="0000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e</a:t>
            </a:r>
            <a:r>
              <a:rPr lang="en-US" b="true" sz="8499" spc="-169" strike="noStrike" u="none">
                <a:solidFill>
                  <a:srgbClr val="0000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t I</a:t>
            </a:r>
            <a:r>
              <a:rPr lang="en-US" b="true" sz="8499" spc="-169" strike="noStrike" u="none">
                <a:solidFill>
                  <a:srgbClr val="0000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nt</a:t>
            </a:r>
            <a:r>
              <a:rPr lang="en-US" b="true" sz="8499" spc="-169" strike="noStrike" u="none">
                <a:solidFill>
                  <a:srgbClr val="0000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ell</a:t>
            </a:r>
            <a:r>
              <a:rPr lang="en-US" b="true" sz="8499" spc="-169" strike="noStrike" u="none">
                <a:solidFill>
                  <a:srgbClr val="0000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i</a:t>
            </a:r>
            <a:r>
              <a:rPr lang="en-US" b="true" sz="8499" spc="-169" strike="noStrike" u="none">
                <a:solidFill>
                  <a:srgbClr val="0000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ge</a:t>
            </a:r>
            <a:r>
              <a:rPr lang="en-US" b="true" sz="8499" spc="-169" strike="noStrike" u="none">
                <a:solidFill>
                  <a:srgbClr val="0000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n</a:t>
            </a:r>
            <a:r>
              <a:rPr lang="en-US" b="true" sz="8499" spc="-169" strike="noStrike" u="none">
                <a:solidFill>
                  <a:srgbClr val="0000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14322" y="1232208"/>
            <a:ext cx="3461147" cy="56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 i="true" u="sng">
                <a:solidFill>
                  <a:srgbClr val="000000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High Convinience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14322" y="9420225"/>
            <a:ext cx="3337560" cy="56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 i="true" u="sng">
                <a:solidFill>
                  <a:srgbClr val="000000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Low Convinience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4599622"/>
            <a:ext cx="2750725" cy="1144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 i="true" u="sng">
                <a:solidFill>
                  <a:srgbClr val="000000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L</a:t>
            </a:r>
            <a:r>
              <a:rPr lang="en-US" b="true" sz="3299" i="true" u="sng">
                <a:solidFill>
                  <a:srgbClr val="000000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ow Screen Time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49169" y="4599622"/>
            <a:ext cx="2929625" cy="1144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 i="true" u="sng">
                <a:solidFill>
                  <a:srgbClr val="000000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High </a:t>
            </a:r>
            <a:r>
              <a:rPr lang="en-US" b="true" sz="3299" i="true" u="sng">
                <a:solidFill>
                  <a:srgbClr val="000000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Screen Time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55007" y="8317229"/>
            <a:ext cx="2839826" cy="94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Netflix -</a:t>
            </a:r>
            <a:r>
              <a:rPr lang="en-US" sz="26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The Content Specialist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43032" y="8317229"/>
            <a:ext cx="3744039" cy="94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Disney+ Hotstar -</a:t>
            </a:r>
            <a:r>
              <a:rPr lang="en-US" sz="26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The Live Experience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06980" y="5367338"/>
            <a:ext cx="9072105" cy="58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0"/>
              </a:lnSpc>
              <a:spcBef>
                <a:spcPct val="0"/>
              </a:spcBef>
            </a:pPr>
            <a:r>
              <a:rPr lang="en-US" b="true" sz="3385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DIRECT COMPETITORS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5362" y="2086294"/>
            <a:ext cx="900668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INDIRECT COMPETITORS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05028" y="4167501"/>
            <a:ext cx="3558901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Flipkart Plus - </a:t>
            </a:r>
            <a:r>
              <a:rPr lang="en-US" sz="25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For </a:t>
            </a:r>
            <a:r>
              <a:rPr lang="en-US" sz="25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Retail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730834" y="4184967"/>
            <a:ext cx="3413166" cy="90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Swiggy One -</a:t>
            </a:r>
            <a:r>
              <a:rPr lang="en-US" sz="25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For</a:t>
            </a:r>
            <a:r>
              <a:rPr lang="en-US" sz="25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Essential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391910" y="4852880"/>
            <a:ext cx="6973592" cy="56648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D3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66531" y="2237741"/>
            <a:ext cx="5416744" cy="5416744"/>
          </a:xfrm>
          <a:custGeom>
            <a:avLst/>
            <a:gdLst/>
            <a:ahLst/>
            <a:cxnLst/>
            <a:rect r="r" b="b" t="t" l="l"/>
            <a:pathLst>
              <a:path h="5416744" w="5416744">
                <a:moveTo>
                  <a:pt x="0" y="0"/>
                </a:moveTo>
                <a:lnTo>
                  <a:pt x="5416744" y="0"/>
                </a:lnTo>
                <a:lnTo>
                  <a:pt x="5416744" y="5416743"/>
                </a:lnTo>
                <a:lnTo>
                  <a:pt x="0" y="5416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80363" y="2237741"/>
            <a:ext cx="5416744" cy="5416744"/>
          </a:xfrm>
          <a:custGeom>
            <a:avLst/>
            <a:gdLst/>
            <a:ahLst/>
            <a:cxnLst/>
            <a:rect r="r" b="b" t="t" l="l"/>
            <a:pathLst>
              <a:path h="5416744" w="5416744">
                <a:moveTo>
                  <a:pt x="0" y="0"/>
                </a:moveTo>
                <a:lnTo>
                  <a:pt x="5416744" y="0"/>
                </a:lnTo>
                <a:lnTo>
                  <a:pt x="5416744" y="5416743"/>
                </a:lnTo>
                <a:lnTo>
                  <a:pt x="0" y="5416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26848" y="142875"/>
            <a:ext cx="14034305" cy="2094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  <a:spcBef>
                <a:spcPct val="0"/>
              </a:spcBef>
            </a:pPr>
            <a:r>
              <a:rPr lang="en-US" b="true" sz="8000" spc="-160" strike="noStrike" u="none">
                <a:solidFill>
                  <a:srgbClr val="2211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Market </a:t>
            </a:r>
            <a:r>
              <a:rPr lang="en-US" b="true" sz="8000" spc="-160" strike="noStrike" u="none">
                <a:solidFill>
                  <a:srgbClr val="2211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Research &amp;</a:t>
            </a:r>
            <a:r>
              <a:rPr lang="en-US" b="true" sz="8000" spc="-160" strike="noStrike" u="none">
                <a:solidFill>
                  <a:srgbClr val="2211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 </a:t>
            </a:r>
            <a:r>
              <a:rPr lang="en-US" b="true" sz="8000" spc="-160" strike="noStrike" u="none">
                <a:solidFill>
                  <a:srgbClr val="2211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D</a:t>
            </a:r>
            <a:r>
              <a:rPr lang="en-US" b="true" sz="8000" spc="-160" strike="noStrike" u="none">
                <a:solidFill>
                  <a:srgbClr val="2211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e</a:t>
            </a:r>
            <a:r>
              <a:rPr lang="en-US" b="true" sz="8000" spc="-160" strike="noStrike" u="none">
                <a:solidFill>
                  <a:srgbClr val="2211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mand Ins</a:t>
            </a:r>
            <a:r>
              <a:rPr lang="en-US" b="true" sz="8000" spc="-160" strike="noStrike" u="none">
                <a:solidFill>
                  <a:srgbClr val="2211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i</a:t>
            </a:r>
            <a:r>
              <a:rPr lang="en-US" b="true" sz="8000" spc="-160" strike="noStrike" u="none">
                <a:solidFill>
                  <a:srgbClr val="2211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ghts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88247" y="7578284"/>
            <a:ext cx="4126111" cy="1313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DI</a:t>
            </a:r>
            <a:r>
              <a:rPr lang="en-US" b="true" sz="3799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GITAL STUDENT</a:t>
            </a:r>
          </a:p>
          <a:p>
            <a:pPr algn="ctr">
              <a:lnSpc>
                <a:spcPts val="531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766531" y="7578284"/>
            <a:ext cx="5416744" cy="1313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B</a:t>
            </a:r>
            <a:r>
              <a:rPr lang="en-US" b="true" sz="3799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USY PROFESSIONAL</a:t>
            </a:r>
          </a:p>
          <a:p>
            <a:pPr algn="ctr">
              <a:lnSpc>
                <a:spcPts val="531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036651" y="8206300"/>
            <a:ext cx="2029301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Age: </a:t>
            </a:r>
            <a:r>
              <a:rPr lang="en-US" sz="33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18-24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42781" y="8206300"/>
            <a:ext cx="2173962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Age:</a:t>
            </a:r>
            <a:r>
              <a:rPr lang="en-US" sz="33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25-40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26848" y="8957651"/>
            <a:ext cx="7486986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Trait -</a:t>
            </a:r>
            <a:r>
              <a:rPr lang="en-US" sz="25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Budget-conscious, Entertainment-focused</a:t>
            </a:r>
          </a:p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Prime Value - </a:t>
            </a:r>
            <a:r>
              <a:rPr lang="en-US" sz="25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Student discount, Video streaming</a:t>
            </a:r>
          </a:p>
          <a:p>
            <a:pPr algn="ctr">
              <a:lnSpc>
                <a:spcPts val="3639"/>
              </a:lnSpc>
            </a:pPr>
          </a:p>
          <a:p>
            <a:pPr algn="ctr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649545" y="8972891"/>
            <a:ext cx="6609755" cy="923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Traits:</a:t>
            </a:r>
            <a:r>
              <a:rPr lang="en-US" sz="26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Time-starved, Convenience-focused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Prime Value:</a:t>
            </a:r>
            <a:r>
              <a:rPr lang="en-US" sz="25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Fast delivery, Premium content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350235" y="-198384"/>
            <a:ext cx="2208347" cy="988331"/>
          </a:xfrm>
          <a:custGeom>
            <a:avLst/>
            <a:gdLst/>
            <a:ahLst/>
            <a:cxnLst/>
            <a:rect r="r" b="b" t="t" l="l"/>
            <a:pathLst>
              <a:path h="988331" w="2208347">
                <a:moveTo>
                  <a:pt x="0" y="0"/>
                </a:moveTo>
                <a:lnTo>
                  <a:pt x="2208347" y="0"/>
                </a:lnTo>
                <a:lnTo>
                  <a:pt x="2208347" y="988332"/>
                </a:lnTo>
                <a:lnTo>
                  <a:pt x="0" y="9883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348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D3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9750" y="415155"/>
            <a:ext cx="17528500" cy="1275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00"/>
              </a:lnSpc>
              <a:spcBef>
                <a:spcPct val="0"/>
              </a:spcBef>
            </a:pPr>
            <a:r>
              <a:rPr lang="en-US" b="true" sz="9500" spc="-190" strike="noStrike" u="none">
                <a:solidFill>
                  <a:srgbClr val="2211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Co</a:t>
            </a:r>
            <a:r>
              <a:rPr lang="en-US" b="true" sz="9500" spc="-190" strike="noStrike" u="none">
                <a:solidFill>
                  <a:srgbClr val="2211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nsu</a:t>
            </a:r>
            <a:r>
              <a:rPr lang="en-US" b="true" sz="9500" spc="-190" strike="noStrike" u="none">
                <a:solidFill>
                  <a:srgbClr val="2211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m</a:t>
            </a:r>
            <a:r>
              <a:rPr lang="en-US" b="true" sz="9500" spc="-190" strike="noStrike" u="none">
                <a:solidFill>
                  <a:srgbClr val="2211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er B</a:t>
            </a:r>
            <a:r>
              <a:rPr lang="en-US" b="true" sz="9500" spc="-190" strike="noStrike" u="none">
                <a:solidFill>
                  <a:srgbClr val="2211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e</a:t>
            </a:r>
            <a:r>
              <a:rPr lang="en-US" b="true" sz="9500" spc="-190" strike="noStrike" u="none">
                <a:solidFill>
                  <a:srgbClr val="2211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hav</a:t>
            </a:r>
            <a:r>
              <a:rPr lang="en-US" b="true" sz="9500" spc="-190" strike="noStrike" u="none">
                <a:solidFill>
                  <a:srgbClr val="2211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io</a:t>
            </a:r>
            <a:r>
              <a:rPr lang="en-US" b="true" sz="9500" spc="-190" strike="noStrike" u="none">
                <a:solidFill>
                  <a:srgbClr val="2211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u</a:t>
            </a:r>
            <a:r>
              <a:rPr lang="en-US" b="true" sz="9500" spc="-190" strike="noStrike" u="none">
                <a:solidFill>
                  <a:srgbClr val="2211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r </a:t>
            </a:r>
            <a:r>
              <a:rPr lang="en-US" b="true" sz="9500" spc="-190" strike="noStrike" u="none">
                <a:solidFill>
                  <a:srgbClr val="2211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An</a:t>
            </a:r>
            <a:r>
              <a:rPr lang="en-US" b="true" sz="9500" spc="-190" strike="noStrike" u="none">
                <a:solidFill>
                  <a:srgbClr val="2211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a</a:t>
            </a:r>
            <a:r>
              <a:rPr lang="en-US" b="true" sz="9500" spc="-190" strike="noStrike" u="none">
                <a:solidFill>
                  <a:srgbClr val="2211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lys</a:t>
            </a:r>
            <a:r>
              <a:rPr lang="en-US" b="true" sz="9500" spc="-190" strike="noStrike" u="none">
                <a:solidFill>
                  <a:srgbClr val="2211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10306250" y="7339467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328112" y="-259986"/>
            <a:ext cx="2208347" cy="988331"/>
          </a:xfrm>
          <a:custGeom>
            <a:avLst/>
            <a:gdLst/>
            <a:ahLst/>
            <a:cxnLst/>
            <a:rect r="r" b="b" t="t" l="l"/>
            <a:pathLst>
              <a:path h="988331" w="2208347">
                <a:moveTo>
                  <a:pt x="0" y="0"/>
                </a:moveTo>
                <a:lnTo>
                  <a:pt x="2208347" y="0"/>
                </a:lnTo>
                <a:lnTo>
                  <a:pt x="2208347" y="988331"/>
                </a:lnTo>
                <a:lnTo>
                  <a:pt x="0" y="9883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348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3936" y="2068466"/>
            <a:ext cx="4020143" cy="8100883"/>
            <a:chOff x="0" y="0"/>
            <a:chExt cx="5360191" cy="1080117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5360191" cy="10801177"/>
              <a:chOff x="0" y="0"/>
              <a:chExt cx="1058803" cy="213356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58803" cy="2133566"/>
              </a:xfrm>
              <a:custGeom>
                <a:avLst/>
                <a:gdLst/>
                <a:ahLst/>
                <a:cxnLst/>
                <a:rect r="r" b="b" t="t" l="l"/>
                <a:pathLst>
                  <a:path h="2133566" w="1058803">
                    <a:moveTo>
                      <a:pt x="82809" y="0"/>
                    </a:moveTo>
                    <a:lnTo>
                      <a:pt x="975995" y="0"/>
                    </a:lnTo>
                    <a:cubicBezTo>
                      <a:pt x="997957" y="0"/>
                      <a:pt x="1019019" y="8724"/>
                      <a:pt x="1034549" y="24254"/>
                    </a:cubicBezTo>
                    <a:cubicBezTo>
                      <a:pt x="1050079" y="39784"/>
                      <a:pt x="1058803" y="60846"/>
                      <a:pt x="1058803" y="82809"/>
                    </a:cubicBezTo>
                    <a:lnTo>
                      <a:pt x="1058803" y="2050757"/>
                    </a:lnTo>
                    <a:cubicBezTo>
                      <a:pt x="1058803" y="2072719"/>
                      <a:pt x="1050079" y="2093782"/>
                      <a:pt x="1034549" y="2109312"/>
                    </a:cubicBezTo>
                    <a:cubicBezTo>
                      <a:pt x="1019019" y="2124841"/>
                      <a:pt x="997957" y="2133566"/>
                      <a:pt x="975995" y="2133566"/>
                    </a:cubicBezTo>
                    <a:lnTo>
                      <a:pt x="82809" y="2133566"/>
                    </a:lnTo>
                    <a:cubicBezTo>
                      <a:pt x="60846" y="2133566"/>
                      <a:pt x="39784" y="2124841"/>
                      <a:pt x="24254" y="2109312"/>
                    </a:cubicBezTo>
                    <a:cubicBezTo>
                      <a:pt x="8724" y="2093782"/>
                      <a:pt x="0" y="2072719"/>
                      <a:pt x="0" y="2050757"/>
                    </a:cubicBezTo>
                    <a:lnTo>
                      <a:pt x="0" y="82809"/>
                    </a:lnTo>
                    <a:cubicBezTo>
                      <a:pt x="0" y="60846"/>
                      <a:pt x="8724" y="39784"/>
                      <a:pt x="24254" y="24254"/>
                    </a:cubicBezTo>
                    <a:cubicBezTo>
                      <a:pt x="39784" y="8724"/>
                      <a:pt x="60846" y="0"/>
                      <a:pt x="82809" y="0"/>
                    </a:cubicBezTo>
                    <a:close/>
                  </a:path>
                </a:pathLst>
              </a:custGeom>
              <a:solidFill>
                <a:srgbClr val="602C23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058803" cy="21621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326250" y="381446"/>
              <a:ext cx="4707692" cy="4707692"/>
            </a:xfrm>
            <a:custGeom>
              <a:avLst/>
              <a:gdLst/>
              <a:ahLst/>
              <a:cxnLst/>
              <a:rect r="r" b="b" t="t" l="l"/>
              <a:pathLst>
                <a:path h="4707692" w="4707692">
                  <a:moveTo>
                    <a:pt x="0" y="0"/>
                  </a:moveTo>
                  <a:lnTo>
                    <a:pt x="4707691" y="0"/>
                  </a:lnTo>
                  <a:lnTo>
                    <a:pt x="4707691" y="4707692"/>
                  </a:lnTo>
                  <a:lnTo>
                    <a:pt x="0" y="4707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5832383"/>
              <a:ext cx="5360191" cy="6447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Personal Factors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26250" y="7220366"/>
              <a:ext cx="4707692" cy="2505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b="true" sz="2700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-</a:t>
              </a:r>
              <a:r>
                <a:rPr lang="en-US" sz="27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Age and life stage preferences</a:t>
              </a:r>
            </a:p>
            <a:p>
              <a:pPr algn="ctr">
                <a:lnSpc>
                  <a:spcPts val="3779"/>
                </a:lnSpc>
              </a:pPr>
              <a:r>
                <a:rPr lang="en-US" b="true" sz="2700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-</a:t>
              </a:r>
              <a:r>
                <a:rPr lang="en-US" sz="27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Income and lifestyle choices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262591" y="2068466"/>
            <a:ext cx="4041597" cy="8063675"/>
            <a:chOff x="0" y="0"/>
            <a:chExt cx="5388796" cy="1075156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5360191" cy="10751566"/>
              <a:chOff x="0" y="0"/>
              <a:chExt cx="1058803" cy="212376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58803" cy="2123766"/>
              </a:xfrm>
              <a:custGeom>
                <a:avLst/>
                <a:gdLst/>
                <a:ahLst/>
                <a:cxnLst/>
                <a:rect r="r" b="b" t="t" l="l"/>
                <a:pathLst>
                  <a:path h="2123766" w="1058803">
                    <a:moveTo>
                      <a:pt x="82809" y="0"/>
                    </a:moveTo>
                    <a:lnTo>
                      <a:pt x="975995" y="0"/>
                    </a:lnTo>
                    <a:cubicBezTo>
                      <a:pt x="997957" y="0"/>
                      <a:pt x="1019019" y="8724"/>
                      <a:pt x="1034549" y="24254"/>
                    </a:cubicBezTo>
                    <a:cubicBezTo>
                      <a:pt x="1050079" y="39784"/>
                      <a:pt x="1058803" y="60846"/>
                      <a:pt x="1058803" y="82809"/>
                    </a:cubicBezTo>
                    <a:lnTo>
                      <a:pt x="1058803" y="2040957"/>
                    </a:lnTo>
                    <a:cubicBezTo>
                      <a:pt x="1058803" y="2062920"/>
                      <a:pt x="1050079" y="2083982"/>
                      <a:pt x="1034549" y="2099512"/>
                    </a:cubicBezTo>
                    <a:cubicBezTo>
                      <a:pt x="1019019" y="2115042"/>
                      <a:pt x="997957" y="2123766"/>
                      <a:pt x="975995" y="2123766"/>
                    </a:cubicBezTo>
                    <a:lnTo>
                      <a:pt x="82809" y="2123766"/>
                    </a:lnTo>
                    <a:cubicBezTo>
                      <a:pt x="60846" y="2123766"/>
                      <a:pt x="39784" y="2115042"/>
                      <a:pt x="24254" y="2099512"/>
                    </a:cubicBezTo>
                    <a:cubicBezTo>
                      <a:pt x="8724" y="2083982"/>
                      <a:pt x="0" y="2062920"/>
                      <a:pt x="0" y="2040957"/>
                    </a:cubicBezTo>
                    <a:lnTo>
                      <a:pt x="0" y="82809"/>
                    </a:lnTo>
                    <a:cubicBezTo>
                      <a:pt x="0" y="60846"/>
                      <a:pt x="8724" y="39784"/>
                      <a:pt x="24254" y="24254"/>
                    </a:cubicBezTo>
                    <a:cubicBezTo>
                      <a:pt x="39784" y="8724"/>
                      <a:pt x="60846" y="0"/>
                      <a:pt x="82809" y="0"/>
                    </a:cubicBezTo>
                    <a:close/>
                  </a:path>
                </a:pathLst>
              </a:custGeom>
              <a:solidFill>
                <a:srgbClr val="602C23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57150"/>
                <a:ext cx="1058803" cy="2180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354855" y="381446"/>
              <a:ext cx="4707692" cy="4707692"/>
            </a:xfrm>
            <a:custGeom>
              <a:avLst/>
              <a:gdLst/>
              <a:ahLst/>
              <a:cxnLst/>
              <a:rect r="r" b="b" t="t" l="l"/>
              <a:pathLst>
                <a:path h="4707692" w="4707692">
                  <a:moveTo>
                    <a:pt x="0" y="0"/>
                  </a:moveTo>
                  <a:lnTo>
                    <a:pt x="4707692" y="0"/>
                  </a:lnTo>
                  <a:lnTo>
                    <a:pt x="4707692" y="4707692"/>
                  </a:lnTo>
                  <a:lnTo>
                    <a:pt x="0" y="4707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28605" y="5859058"/>
              <a:ext cx="5360191" cy="6447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Social Factors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53963" y="7272146"/>
              <a:ext cx="4652265" cy="2505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699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-</a:t>
              </a:r>
              <a:r>
                <a:rPr lang="en-US" sz="2699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Family and peer influence</a:t>
              </a:r>
            </a:p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699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-</a:t>
              </a:r>
              <a:r>
                <a:rPr lang="en-US" sz="2699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Social media and word-of-mouth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368459" y="2068466"/>
            <a:ext cx="4020143" cy="8057310"/>
            <a:chOff x="0" y="0"/>
            <a:chExt cx="5360191" cy="10743079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5360191" cy="10743079"/>
              <a:chOff x="0" y="0"/>
              <a:chExt cx="1058803" cy="212209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058803" cy="2122090"/>
              </a:xfrm>
              <a:custGeom>
                <a:avLst/>
                <a:gdLst/>
                <a:ahLst/>
                <a:cxnLst/>
                <a:rect r="r" b="b" t="t" l="l"/>
                <a:pathLst>
                  <a:path h="2122090" w="1058803">
                    <a:moveTo>
                      <a:pt x="82809" y="0"/>
                    </a:moveTo>
                    <a:lnTo>
                      <a:pt x="975995" y="0"/>
                    </a:lnTo>
                    <a:cubicBezTo>
                      <a:pt x="997957" y="0"/>
                      <a:pt x="1019019" y="8724"/>
                      <a:pt x="1034549" y="24254"/>
                    </a:cubicBezTo>
                    <a:cubicBezTo>
                      <a:pt x="1050079" y="39784"/>
                      <a:pt x="1058803" y="60846"/>
                      <a:pt x="1058803" y="82809"/>
                    </a:cubicBezTo>
                    <a:lnTo>
                      <a:pt x="1058803" y="2039281"/>
                    </a:lnTo>
                    <a:cubicBezTo>
                      <a:pt x="1058803" y="2085015"/>
                      <a:pt x="1021729" y="2122090"/>
                      <a:pt x="975995" y="2122090"/>
                    </a:cubicBezTo>
                    <a:lnTo>
                      <a:pt x="82809" y="2122090"/>
                    </a:lnTo>
                    <a:cubicBezTo>
                      <a:pt x="60846" y="2122090"/>
                      <a:pt x="39784" y="2113365"/>
                      <a:pt x="24254" y="2097836"/>
                    </a:cubicBezTo>
                    <a:cubicBezTo>
                      <a:pt x="8724" y="2082306"/>
                      <a:pt x="0" y="2061243"/>
                      <a:pt x="0" y="2039281"/>
                    </a:cubicBezTo>
                    <a:lnTo>
                      <a:pt x="0" y="82809"/>
                    </a:lnTo>
                    <a:cubicBezTo>
                      <a:pt x="0" y="60846"/>
                      <a:pt x="8724" y="39784"/>
                      <a:pt x="24254" y="24254"/>
                    </a:cubicBezTo>
                    <a:cubicBezTo>
                      <a:pt x="39784" y="8724"/>
                      <a:pt x="60846" y="0"/>
                      <a:pt x="82809" y="0"/>
                    </a:cubicBezTo>
                    <a:close/>
                  </a:path>
                </a:pathLst>
              </a:custGeom>
              <a:solidFill>
                <a:srgbClr val="602C23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1058803" cy="21506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355630" y="381446"/>
              <a:ext cx="4695804" cy="4707692"/>
            </a:xfrm>
            <a:custGeom>
              <a:avLst/>
              <a:gdLst/>
              <a:ahLst/>
              <a:cxnLst/>
              <a:rect r="r" b="b" t="t" l="l"/>
              <a:pathLst>
                <a:path h="4707692" w="4695804">
                  <a:moveTo>
                    <a:pt x="0" y="0"/>
                  </a:moveTo>
                  <a:lnTo>
                    <a:pt x="4695804" y="0"/>
                  </a:lnTo>
                  <a:lnTo>
                    <a:pt x="4695804" y="4707692"/>
                  </a:lnTo>
                  <a:lnTo>
                    <a:pt x="0" y="4707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840045" y="5832383"/>
              <a:ext cx="3726974" cy="6447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b="true" sz="2899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Cultural Factors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55630" y="7220071"/>
              <a:ext cx="4545292" cy="2505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-</a:t>
              </a:r>
              <a:r>
                <a:rPr lang="en-US" sz="27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Regional preferences and local behaviors</a:t>
              </a:r>
            </a:p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-</a:t>
              </a:r>
              <a:r>
                <a:rPr lang="en-US" sz="27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Cultural norms and technology access</a:t>
              </a:r>
            </a:p>
          </p:txBody>
        </p:sp>
      </p:grpSp>
      <p:pic>
        <p:nvPicPr>
          <p:cNvPr name="Picture 26" id="2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371778" y="982098"/>
            <a:ext cx="8026559" cy="103629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D3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6850868" y="692349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465344" y="2723631"/>
            <a:ext cx="3118468" cy="3168542"/>
          </a:xfrm>
          <a:custGeom>
            <a:avLst/>
            <a:gdLst/>
            <a:ahLst/>
            <a:cxnLst/>
            <a:rect r="r" b="b" t="t" l="l"/>
            <a:pathLst>
              <a:path h="3168542" w="3118468">
                <a:moveTo>
                  <a:pt x="0" y="0"/>
                </a:moveTo>
                <a:lnTo>
                  <a:pt x="3118468" y="0"/>
                </a:lnTo>
                <a:lnTo>
                  <a:pt x="3118468" y="3168542"/>
                </a:lnTo>
                <a:lnTo>
                  <a:pt x="0" y="31685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02" t="0" r="-802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0"/>
            <a:ext cx="18054506" cy="3061389"/>
            <a:chOff x="0" y="0"/>
            <a:chExt cx="24072675" cy="408185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71450"/>
              <a:ext cx="24072675" cy="30069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  <a:r>
                <a:rPr lang="en-US" b="true" sz="8499" spc="-169">
                  <a:solidFill>
                    <a:srgbClr val="602C23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S</a:t>
              </a:r>
              <a:r>
                <a:rPr lang="en-US" b="true" sz="8499" spc="-169" strike="noStrike" u="none">
                  <a:solidFill>
                    <a:srgbClr val="602C23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e</a:t>
              </a:r>
              <a:r>
                <a:rPr lang="en-US" b="true" sz="8499" spc="-169" strike="noStrike" u="none">
                  <a:solidFill>
                    <a:srgbClr val="602C23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gm</a:t>
              </a:r>
              <a:r>
                <a:rPr lang="en-US" b="true" sz="8499" spc="-169" strike="noStrike" u="none">
                  <a:solidFill>
                    <a:srgbClr val="602C23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e</a:t>
              </a:r>
              <a:r>
                <a:rPr lang="en-US" b="true" sz="8499" spc="-169" strike="noStrike" u="none">
                  <a:solidFill>
                    <a:srgbClr val="602C23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nt</a:t>
              </a:r>
              <a:r>
                <a:rPr lang="en-US" b="true" sz="8499" spc="-169" strike="noStrike" u="none">
                  <a:solidFill>
                    <a:srgbClr val="602C23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a</a:t>
              </a:r>
              <a:r>
                <a:rPr lang="en-US" b="true" sz="8499" spc="-169" strike="noStrike" u="none">
                  <a:solidFill>
                    <a:srgbClr val="602C23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tio</a:t>
              </a:r>
              <a:r>
                <a:rPr lang="en-US" b="true" sz="8499" spc="-169" strike="noStrike" u="none">
                  <a:solidFill>
                    <a:srgbClr val="602C23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n</a:t>
              </a:r>
              <a:r>
                <a:rPr lang="en-US" b="true" sz="8499" spc="-169" strike="noStrike" u="none">
                  <a:solidFill>
                    <a:srgbClr val="602C23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,</a:t>
              </a:r>
              <a:r>
                <a:rPr lang="en-US" b="true" sz="8499" spc="-169" strike="noStrike" u="none">
                  <a:solidFill>
                    <a:srgbClr val="602C23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 </a:t>
              </a:r>
              <a:r>
                <a:rPr lang="en-US" b="true" sz="8499" spc="-169" strike="noStrike" u="none">
                  <a:solidFill>
                    <a:srgbClr val="602C23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Targ</a:t>
              </a:r>
              <a:r>
                <a:rPr lang="en-US" b="true" sz="8499" spc="-169" strike="noStrike" u="none">
                  <a:solidFill>
                    <a:srgbClr val="602C23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eti</a:t>
              </a:r>
              <a:r>
                <a:rPr lang="en-US" b="true" sz="8499" spc="-169" strike="noStrike" u="none">
                  <a:solidFill>
                    <a:srgbClr val="602C23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ng &amp; Po</a:t>
              </a:r>
              <a:r>
                <a:rPr lang="en-US" b="true" sz="8499" spc="-169" strike="noStrike" u="none">
                  <a:solidFill>
                    <a:srgbClr val="602C23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s</a:t>
              </a:r>
              <a:r>
                <a:rPr lang="en-US" b="true" sz="8499" spc="-169" strike="noStrike" u="none">
                  <a:solidFill>
                    <a:srgbClr val="602C23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itioning</a:t>
              </a:r>
              <a:r>
                <a:rPr lang="en-US" b="true" sz="8499" spc="-169" strike="noStrike" u="none">
                  <a:solidFill>
                    <a:srgbClr val="602C23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 </a:t>
              </a:r>
              <a:r>
                <a:rPr lang="en-US" b="true" sz="8499" spc="-169" strike="noStrike" u="none">
                  <a:solidFill>
                    <a:srgbClr val="602C23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(STP)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63692"/>
              <a:ext cx="24072675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9828254">
            <a:off x="-423691" y="8974997"/>
            <a:ext cx="1876083" cy="1497455"/>
          </a:xfrm>
          <a:custGeom>
            <a:avLst/>
            <a:gdLst/>
            <a:ahLst/>
            <a:cxnLst/>
            <a:rect r="r" b="b" t="t" l="l"/>
            <a:pathLst>
              <a:path h="1497455" w="1876083">
                <a:moveTo>
                  <a:pt x="1876082" y="0"/>
                </a:moveTo>
                <a:lnTo>
                  <a:pt x="0" y="0"/>
                </a:lnTo>
                <a:lnTo>
                  <a:pt x="0" y="1497456"/>
                </a:lnTo>
                <a:lnTo>
                  <a:pt x="1876082" y="1497456"/>
                </a:lnTo>
                <a:lnTo>
                  <a:pt x="187608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763776" y="2507117"/>
            <a:ext cx="3385055" cy="3385055"/>
          </a:xfrm>
          <a:custGeom>
            <a:avLst/>
            <a:gdLst/>
            <a:ahLst/>
            <a:cxnLst/>
            <a:rect r="r" b="b" t="t" l="l"/>
            <a:pathLst>
              <a:path h="3385055" w="3385055">
                <a:moveTo>
                  <a:pt x="0" y="0"/>
                </a:moveTo>
                <a:lnTo>
                  <a:pt x="3385056" y="0"/>
                </a:lnTo>
                <a:lnTo>
                  <a:pt x="3385056" y="3385056"/>
                </a:lnTo>
                <a:lnTo>
                  <a:pt x="0" y="33850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328796" y="2600257"/>
            <a:ext cx="3291916" cy="3291916"/>
          </a:xfrm>
          <a:custGeom>
            <a:avLst/>
            <a:gdLst/>
            <a:ahLst/>
            <a:cxnLst/>
            <a:rect r="r" b="b" t="t" l="l"/>
            <a:pathLst>
              <a:path h="3291916" w="3291916">
                <a:moveTo>
                  <a:pt x="0" y="0"/>
                </a:moveTo>
                <a:lnTo>
                  <a:pt x="3291916" y="0"/>
                </a:lnTo>
                <a:lnTo>
                  <a:pt x="3291916" y="3291916"/>
                </a:lnTo>
                <a:lnTo>
                  <a:pt x="0" y="3291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27414" y="2600257"/>
            <a:ext cx="3291916" cy="3291916"/>
          </a:xfrm>
          <a:custGeom>
            <a:avLst/>
            <a:gdLst/>
            <a:ahLst/>
            <a:cxnLst/>
            <a:rect r="r" b="b" t="t" l="l"/>
            <a:pathLst>
              <a:path h="3291916" w="3291916">
                <a:moveTo>
                  <a:pt x="0" y="0"/>
                </a:moveTo>
                <a:lnTo>
                  <a:pt x="3291916" y="0"/>
                </a:lnTo>
                <a:lnTo>
                  <a:pt x="3291916" y="3291916"/>
                </a:lnTo>
                <a:lnTo>
                  <a:pt x="0" y="32919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328112" y="-259986"/>
            <a:ext cx="2208347" cy="988331"/>
          </a:xfrm>
          <a:custGeom>
            <a:avLst/>
            <a:gdLst/>
            <a:ahLst/>
            <a:cxnLst/>
            <a:rect r="r" b="b" t="t" l="l"/>
            <a:pathLst>
              <a:path h="988331" w="2208347">
                <a:moveTo>
                  <a:pt x="0" y="0"/>
                </a:moveTo>
                <a:lnTo>
                  <a:pt x="2208347" y="0"/>
                </a:lnTo>
                <a:lnTo>
                  <a:pt x="2208347" y="988331"/>
                </a:lnTo>
                <a:lnTo>
                  <a:pt x="0" y="9883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0348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629653" y="6245476"/>
            <a:ext cx="1653302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Students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51119" y="6245476"/>
            <a:ext cx="1481852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Families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2875" y="6245476"/>
            <a:ext cx="306645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Tech Enthusiasts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160599" y="6244598"/>
            <a:ext cx="3628311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Young Professionals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0" y="7527047"/>
            <a:ext cx="18288000" cy="121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i="true">
                <a:solidFill>
                  <a:srgbClr val="000000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“</a:t>
            </a:r>
            <a:r>
              <a:rPr lang="en-US" b="true" sz="3499" i="true">
                <a:solidFill>
                  <a:srgbClr val="000000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Amazon Prime+</a:t>
            </a:r>
            <a:r>
              <a:rPr lang="en-US" sz="3499" i="true">
                <a:solidFill>
                  <a:srgbClr val="000000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 is the all-in-one digital lifestyle subscription that combines shopping convenience, entertainment, and exclusive benefits for modern digital consumers.”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D3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20982" y="1957853"/>
            <a:ext cx="7433183" cy="7433183"/>
          </a:xfrm>
          <a:custGeom>
            <a:avLst/>
            <a:gdLst/>
            <a:ahLst/>
            <a:cxnLst/>
            <a:rect r="r" b="b" t="t" l="l"/>
            <a:pathLst>
              <a:path h="7433183" w="7433183">
                <a:moveTo>
                  <a:pt x="0" y="0"/>
                </a:moveTo>
                <a:lnTo>
                  <a:pt x="7433183" y="0"/>
                </a:lnTo>
                <a:lnTo>
                  <a:pt x="7433183" y="7433183"/>
                </a:lnTo>
                <a:lnTo>
                  <a:pt x="0" y="74331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50270" y="5076694"/>
            <a:ext cx="3141840" cy="1274245"/>
          </a:xfrm>
          <a:custGeom>
            <a:avLst/>
            <a:gdLst/>
            <a:ahLst/>
            <a:cxnLst/>
            <a:rect r="r" b="b" t="t" l="l"/>
            <a:pathLst>
              <a:path h="1274245" w="3141840">
                <a:moveTo>
                  <a:pt x="0" y="0"/>
                </a:moveTo>
                <a:lnTo>
                  <a:pt x="3141841" y="0"/>
                </a:lnTo>
                <a:lnTo>
                  <a:pt x="3141841" y="1274244"/>
                </a:lnTo>
                <a:lnTo>
                  <a:pt x="0" y="12742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4512" y="2596826"/>
            <a:ext cx="2633792" cy="2590694"/>
          </a:xfrm>
          <a:custGeom>
            <a:avLst/>
            <a:gdLst/>
            <a:ahLst/>
            <a:cxnLst/>
            <a:rect r="r" b="b" t="t" l="l"/>
            <a:pathLst>
              <a:path h="2590694" w="2633792">
                <a:moveTo>
                  <a:pt x="0" y="0"/>
                </a:moveTo>
                <a:lnTo>
                  <a:pt x="2633792" y="0"/>
                </a:lnTo>
                <a:lnTo>
                  <a:pt x="2633792" y="2590694"/>
                </a:lnTo>
                <a:lnTo>
                  <a:pt x="0" y="2590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51389" y="6864982"/>
            <a:ext cx="1480037" cy="2592422"/>
          </a:xfrm>
          <a:custGeom>
            <a:avLst/>
            <a:gdLst/>
            <a:ahLst/>
            <a:cxnLst/>
            <a:rect r="r" b="b" t="t" l="l"/>
            <a:pathLst>
              <a:path h="2592422" w="1480037">
                <a:moveTo>
                  <a:pt x="0" y="0"/>
                </a:moveTo>
                <a:lnTo>
                  <a:pt x="1480038" y="0"/>
                </a:lnTo>
                <a:lnTo>
                  <a:pt x="1480038" y="2592422"/>
                </a:lnTo>
                <a:lnTo>
                  <a:pt x="0" y="25924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51668" y="2552806"/>
            <a:ext cx="2590694" cy="2590694"/>
          </a:xfrm>
          <a:custGeom>
            <a:avLst/>
            <a:gdLst/>
            <a:ahLst/>
            <a:cxnLst/>
            <a:rect r="r" b="b" t="t" l="l"/>
            <a:pathLst>
              <a:path h="2590694" w="2590694">
                <a:moveTo>
                  <a:pt x="0" y="0"/>
                </a:moveTo>
                <a:lnTo>
                  <a:pt x="2590694" y="0"/>
                </a:lnTo>
                <a:lnTo>
                  <a:pt x="2590694" y="2590694"/>
                </a:lnTo>
                <a:lnTo>
                  <a:pt x="0" y="25906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540065" y="6997718"/>
            <a:ext cx="2464166" cy="2459686"/>
          </a:xfrm>
          <a:custGeom>
            <a:avLst/>
            <a:gdLst/>
            <a:ahLst/>
            <a:cxnLst/>
            <a:rect r="r" b="b" t="t" l="l"/>
            <a:pathLst>
              <a:path h="2459686" w="2464166">
                <a:moveTo>
                  <a:pt x="0" y="0"/>
                </a:moveTo>
                <a:lnTo>
                  <a:pt x="2464167" y="0"/>
                </a:lnTo>
                <a:lnTo>
                  <a:pt x="2464167" y="2459686"/>
                </a:lnTo>
                <a:lnTo>
                  <a:pt x="0" y="24596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37326" y="133350"/>
            <a:ext cx="16954500" cy="969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77"/>
              </a:lnSpc>
              <a:spcBef>
                <a:spcPct val="0"/>
              </a:spcBef>
            </a:pPr>
            <a:r>
              <a:rPr lang="en-US" b="true" sz="7177" spc="-143" strike="noStrike" u="none">
                <a:solidFill>
                  <a:srgbClr val="2211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Marketing </a:t>
            </a:r>
            <a:r>
              <a:rPr lang="en-US" b="true" sz="7177" spc="-143" strike="noStrike" u="none">
                <a:solidFill>
                  <a:srgbClr val="2211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M</a:t>
            </a:r>
            <a:r>
              <a:rPr lang="en-US" b="true" sz="7177" spc="-143" strike="noStrike" u="none">
                <a:solidFill>
                  <a:srgbClr val="2211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i</a:t>
            </a:r>
            <a:r>
              <a:rPr lang="en-US" b="true" sz="7177" spc="-143" strike="noStrike" u="none">
                <a:solidFill>
                  <a:srgbClr val="2211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x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22774" y="9466622"/>
            <a:ext cx="822960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 u="sng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</a:t>
            </a:r>
            <a:r>
              <a:rPr lang="en-US" b="true" sz="2999" u="sng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arket Reach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4034730" y="5393457"/>
            <a:ext cx="322457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 i="true" u="sng">
                <a:solidFill>
                  <a:srgbClr val="000000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Revenue Strategy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57696" y="1249146"/>
            <a:ext cx="375975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 i="true" u="sng">
                <a:solidFill>
                  <a:srgbClr val="000000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High Customer Value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5393457"/>
            <a:ext cx="40493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 i="true" u="sng">
                <a:solidFill>
                  <a:srgbClr val="000000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Channel &amp; Distribution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30537" y="3120955"/>
            <a:ext cx="110287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PRICE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55105" y="3825498"/>
            <a:ext cx="2785166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Subscription Model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46527" y="3120955"/>
            <a:ext cx="180748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PRODUCT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07548" y="3861058"/>
            <a:ext cx="2900296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Integrated Ecosystem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44644" y="6293788"/>
            <a:ext cx="1205627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PLACE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39339" y="7036739"/>
            <a:ext cx="1836714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Digital Platform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6627" y="6293788"/>
            <a:ext cx="2308503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PROMOTION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14576" y="7036739"/>
            <a:ext cx="2755071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Prime Day,  Campaigns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D3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02596" y="0"/>
            <a:ext cx="8185404" cy="10287000"/>
            <a:chOff x="0" y="0"/>
            <a:chExt cx="215582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5827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55827">
                  <a:moveTo>
                    <a:pt x="0" y="0"/>
                  </a:moveTo>
                  <a:lnTo>
                    <a:pt x="2155827" y="0"/>
                  </a:lnTo>
                  <a:lnTo>
                    <a:pt x="215582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02C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55827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08180" y="666750"/>
            <a:ext cx="6947741" cy="8953500"/>
            <a:chOff x="0" y="0"/>
            <a:chExt cx="812800" cy="10474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47449"/>
            </a:xfrm>
            <a:custGeom>
              <a:avLst/>
              <a:gdLst/>
              <a:ahLst/>
              <a:cxnLst/>
              <a:rect r="r" b="b" t="t" l="l"/>
              <a:pathLst>
                <a:path h="1047449" w="812800">
                  <a:moveTo>
                    <a:pt x="44572" y="0"/>
                  </a:moveTo>
                  <a:lnTo>
                    <a:pt x="768228" y="0"/>
                  </a:lnTo>
                  <a:cubicBezTo>
                    <a:pt x="792844" y="0"/>
                    <a:pt x="812800" y="19956"/>
                    <a:pt x="812800" y="44572"/>
                  </a:cubicBezTo>
                  <a:lnTo>
                    <a:pt x="812800" y="1002877"/>
                  </a:lnTo>
                  <a:cubicBezTo>
                    <a:pt x="812800" y="1027493"/>
                    <a:pt x="792844" y="1047449"/>
                    <a:pt x="768228" y="1047449"/>
                  </a:cubicBezTo>
                  <a:lnTo>
                    <a:pt x="44572" y="1047449"/>
                  </a:lnTo>
                  <a:cubicBezTo>
                    <a:pt x="19956" y="1047449"/>
                    <a:pt x="0" y="1027493"/>
                    <a:pt x="0" y="1002877"/>
                  </a:cubicBezTo>
                  <a:lnTo>
                    <a:pt x="0" y="44572"/>
                  </a:lnTo>
                  <a:cubicBezTo>
                    <a:pt x="0" y="19956"/>
                    <a:pt x="19956" y="0"/>
                    <a:pt x="4457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438" r="0" b="-19438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708180" y="9066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777746" y="550229"/>
            <a:ext cx="8324850" cy="112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  <a:spcBef>
                <a:spcPct val="0"/>
              </a:spcBef>
            </a:pPr>
            <a:r>
              <a:rPr lang="en-US" b="true" sz="8499" spc="-169">
                <a:solidFill>
                  <a:srgbClr val="2211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References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88838" y="1829241"/>
            <a:ext cx="7272100" cy="7266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6499"/>
              </a:lnSpc>
              <a:buFont typeface="Arial"/>
              <a:buChar char="•"/>
            </a:pPr>
            <a:r>
              <a:rPr lang="en-US" b="true" sz="2599" u="sng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  <a:hlinkClick r:id="rId5" tooltip="http://aboutamazon.com"/>
              </a:rPr>
              <a:t>Amazon Prime Membership Benefits</a:t>
            </a:r>
          </a:p>
          <a:p>
            <a:pPr algn="l">
              <a:lnSpc>
                <a:spcPts val="6499"/>
              </a:lnSpc>
            </a:pPr>
          </a:p>
          <a:p>
            <a:pPr algn="l" marL="561339" indent="-280669" lvl="1">
              <a:lnSpc>
                <a:spcPts val="6499"/>
              </a:lnSpc>
              <a:buFont typeface="Arial"/>
              <a:buChar char="•"/>
            </a:pPr>
            <a:r>
              <a:rPr lang="en-US" b="true" sz="2599" u="sng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  <a:hlinkClick r:id="rId6" tooltip="http://amazon.com/amazonprime"/>
              </a:rPr>
              <a:t>Amazon Prime Official Page</a:t>
            </a:r>
          </a:p>
          <a:p>
            <a:pPr algn="l">
              <a:lnSpc>
                <a:spcPts val="6499"/>
              </a:lnSpc>
            </a:pPr>
          </a:p>
          <a:p>
            <a:pPr algn="l" marL="561339" indent="-280669" lvl="1">
              <a:lnSpc>
                <a:spcPts val="6499"/>
              </a:lnSpc>
              <a:buFont typeface="Arial"/>
              <a:buChar char="•"/>
            </a:pPr>
            <a:r>
              <a:rPr lang="en-US" b="true" sz="2599" u="sng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  <a:hlinkClick r:id="rId7" tooltip="http://netflix.com"/>
              </a:rPr>
              <a:t>Netflix Official Website</a:t>
            </a:r>
          </a:p>
          <a:p>
            <a:pPr algn="l">
              <a:lnSpc>
                <a:spcPts val="6499"/>
              </a:lnSpc>
            </a:pPr>
          </a:p>
          <a:p>
            <a:pPr algn="l" marL="561339" indent="-280669" lvl="1">
              <a:lnSpc>
                <a:spcPts val="6499"/>
              </a:lnSpc>
              <a:buFont typeface="Arial"/>
              <a:buChar char="•"/>
            </a:pPr>
            <a:r>
              <a:rPr lang="en-US" b="true" sz="2599" u="sng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  <a:hlinkClick r:id="rId8" tooltip="http://about.netflix.com"/>
              </a:rPr>
              <a:t>Netflix Mobile Plan for India – About Netflix</a:t>
            </a:r>
          </a:p>
          <a:p>
            <a:pPr algn="l">
              <a:lnSpc>
                <a:spcPts val="6499"/>
              </a:lnSpc>
            </a:pPr>
          </a:p>
          <a:p>
            <a:pPr algn="l" marL="561339" indent="-280669" lvl="1">
              <a:lnSpc>
                <a:spcPts val="6499"/>
              </a:lnSpc>
              <a:buFont typeface="Arial"/>
              <a:buChar char="•"/>
            </a:pPr>
            <a:r>
              <a:rPr lang="en-US" b="true" sz="2599" u="sng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  <a:hlinkClick r:id="rId9" tooltip="http://aboutamazon.com"/>
              </a:rPr>
              <a:t>Amazon Prime Benefits Overview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328112" y="-259986"/>
            <a:ext cx="2208347" cy="988331"/>
          </a:xfrm>
          <a:custGeom>
            <a:avLst/>
            <a:gdLst/>
            <a:ahLst/>
            <a:cxnLst/>
            <a:rect r="r" b="b" t="t" l="l"/>
            <a:pathLst>
              <a:path h="988331" w="2208347">
                <a:moveTo>
                  <a:pt x="0" y="0"/>
                </a:moveTo>
                <a:lnTo>
                  <a:pt x="2208347" y="0"/>
                </a:lnTo>
                <a:lnTo>
                  <a:pt x="2208347" y="988331"/>
                </a:lnTo>
                <a:lnTo>
                  <a:pt x="0" y="98833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0348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68935" y="2864570"/>
            <a:ext cx="10328868" cy="2564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38"/>
              </a:lnSpc>
            </a:pPr>
            <a:r>
              <a:rPr lang="en-US" b="true" sz="12787" spc="664">
                <a:solidFill>
                  <a:srgbClr val="602C23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THANK 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328112" y="-259986"/>
            <a:ext cx="2208347" cy="988331"/>
          </a:xfrm>
          <a:custGeom>
            <a:avLst/>
            <a:gdLst/>
            <a:ahLst/>
            <a:cxnLst/>
            <a:rect r="r" b="b" t="t" l="l"/>
            <a:pathLst>
              <a:path h="988331" w="2208347">
                <a:moveTo>
                  <a:pt x="0" y="0"/>
                </a:moveTo>
                <a:lnTo>
                  <a:pt x="2208347" y="0"/>
                </a:lnTo>
                <a:lnTo>
                  <a:pt x="2208347" y="988331"/>
                </a:lnTo>
                <a:lnTo>
                  <a:pt x="0" y="9883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348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Product Marketing Overview</dc:description>
  <dc:identifier>DAHECGn5ZVI</dc:identifier>
  <dcterms:modified xsi:type="dcterms:W3CDTF">2011-08-01T06:04:30Z</dcterms:modified>
  <cp:revision>1</cp:revision>
  <dc:title>Presentation - Product Marketing Overview</dc:title>
</cp:coreProperties>
</file>